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2" r:id="rId10"/>
    <p:sldId id="263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6327"/>
  </p:normalViewPr>
  <p:slideViewPr>
    <p:cSldViewPr snapToGrid="0" snapToObjects="1">
      <p:cViewPr varScale="1">
        <p:scale>
          <a:sx n="139" d="100"/>
          <a:sy n="139" d="100"/>
        </p:scale>
        <p:origin x="17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4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331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11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4733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8523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5919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024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1793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348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737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3078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2772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246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1865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47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8116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7306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18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45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2377440"/>
            <a:ext cx="9144000" cy="6400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SPT-</a:t>
            </a: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Briefing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embed compliance permanently into every transaction your institution processes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Violet  Sky Security </a:t>
            </a:r>
            <a:r>
              <a:rPr lang="en-US" sz="1200" b="1" dirty="0" err="1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Rudi Coetzee, CISSP/ISSAP/ISSMP/CSSLP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Draft: draft-coetzee-oauth-spt-txn-tokens-00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Compliance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authorization and execution is where risk hides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51560"/>
            <a:ext cx="84307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64008" cy="8412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7205472" y="1124712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205472" y="1124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116128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executes a trade on your platform at 2am. Who authorized it, under what scope, on what policy state?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011680"/>
            <a:ext cx="84307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347472" y="2011680"/>
            <a:ext cx="64008" cy="8412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7205472" y="2084832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7205472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EXPOSURE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0352" y="212140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tokenized bond transfers across three jurisdictions. Which AML ruleset applied at the moment of settlement?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971800"/>
            <a:ext cx="84307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347472" y="2971800"/>
            <a:ext cx="64008" cy="8412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7205472" y="3044952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7205472" y="3044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BREACH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0352" y="308152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regulator requests transaction-level evidence for Q4. Your compliance team needs 6 weeks to reconstruct it.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3931920"/>
            <a:ext cx="84307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347472" y="3931920"/>
            <a:ext cx="64008" cy="8412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7205472" y="4005072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205472" y="4005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" y="404164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policy engine goes offline for 4 minutes. Transactions continue. Did any execute outside policy?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Gap Nobody Has Solved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transactions exist in separate systems — that's the structural flaw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3950208" cy="3611880"/>
          </a:xfrm>
          <a:prstGeom prst="rect">
            <a:avLst/>
          </a:prstGeom>
          <a:solidFill>
            <a:srgbClr val="FFF5F5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47472" y="1078992"/>
            <a:ext cx="3950208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0292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Transaction executes in System 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482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Policy check in System B (external overlay)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237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Audit trail reconstructed in System 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These 3 systems can fall out of sync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Compliance is validated AFTER the fact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AI agents can bypass the overlay entirely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78992"/>
            <a:ext cx="4224528" cy="3611880"/>
          </a:xfrm>
          <a:prstGeom prst="rect">
            <a:avLst/>
          </a:prstGeom>
          <a:solidFill>
            <a:srgbClr val="F0FDF4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4572000" y="1078992"/>
            <a:ext cx="4224528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0916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SPT-TXN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Policy bound to transaction at creation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048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carries proof of authorization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523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Cryptographic — not reconstructed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at moment of execution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Regulators verify instantly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agents carry scope-limited tokens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into your existing infrastructure — does not replace it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47472" y="1097280"/>
            <a:ext cx="64008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7333488" y="1353312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333488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replacement required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0352" y="1188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Infra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5727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 · Exchange engine · Payment rails · Smart contracts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148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359152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347472" y="2359152"/>
            <a:ext cx="64008" cy="107899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7333488" y="2615184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333488" y="26151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compliance envelope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" y="2450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Token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2834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(TBAC) · Token issuance &amp; verification · SD-JWT / CWT / Biscuit format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3410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3621024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347472" y="3621024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7333488" y="387705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7333488" y="38770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instantly verifiable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371246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Audit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40965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 · MiCA · DORA · GENIUS Act · ISO 27001 · FinCEN · FATF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61772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formats: JWT / SD-JWT (primary)  ·  CWT (agent-to-agent)  ·  Biscuit (alternative)  ·  Format-agnostic TBAC engine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Privacy Layer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compliance without exposing identity — built into the cryptographic layer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47472" y="1097280"/>
            <a:ext cx="64008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7333488" y="1353312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333488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Mathematics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0352" y="1188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Proofs for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5727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attestations verified without sharing underlying data. Groth16 circuits on BN254 produce 192-byte proofs verifiable in under 5ms. Full compliance evidence — zero PII transmitted.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148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359152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347472" y="2359152"/>
            <a:ext cx="64008" cy="107899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7333488" y="2615184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333488" y="26151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 — Self-Sovereign Identity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" y="2450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humanAnchor — Sovereign Identity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2834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chain carries a zkDID commitment to the authorizing human. Self-Sovereign Identity: no intermediary holds your identity data. Accountability without surveillance.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3410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3621024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347472" y="3621024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7333488" y="387705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7333488" y="38770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• EU AI Act Art. 14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371246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25 — Privacy by Design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40965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is structural, not policy. SD-JWT selective disclosure + zkDID commitments + TBAC scope enforcement. Privacy enforced at the cryptographic layer, not the application layer.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61772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stack: Groth16 / BN254  ·  zkDID commitments  ·  SD-JWT selective disclosure  ·  Nullifier registry for proof replay prevention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&amp; Business Case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 infrastructure, not overhead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64008" cy="1508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3108960" y="1170432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3108960" y="1170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Avoided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632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Fine Exposure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153619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fines up to 10% of annual turnover. VARA: license revocation. SPT-Txn provides the audit-ready evidence trail regulators require.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7448" y="1078992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4727448" y="1078992"/>
            <a:ext cx="64008" cy="1508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7516368" y="1170432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7516368" y="1170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9204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Cost Reduction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53619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compliance evidence is generated at the moment of execution. Quarterly audits no longer require weeks of reconstruction.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320040" y="2743200"/>
            <a:ext cx="64008" cy="1508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3108960" y="283464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3108960" y="28346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Enabler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4632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Enablement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" y="320040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deploy autonomous agents with cryptographically scoped authorization. Expand capability without expanding liability.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274320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4727448" y="2743200"/>
            <a:ext cx="64008" cy="1508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7516368" y="283464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7516368" y="28346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Advantage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9204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Compliance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20040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that implement SPT-Txn ahead of regulatory mandates demonstrate leadership — and avoid the compliance sprint when rules tighten.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 Coverage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implementation — multi-jurisdictional compliance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724912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272491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29768" y="1188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92808" y="1243584"/>
            <a:ext cx="1024128" cy="2286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1892808" y="124358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" y="15910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Markets in Crypto-Assets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187452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audit evidence, consumer protection disclosures, AML binding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18688" y="1078992"/>
            <a:ext cx="2724912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3218688" y="1078992"/>
            <a:ext cx="2724912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3328416" y="1188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91456" y="1243584"/>
            <a:ext cx="1024128" cy="228600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91456" y="124358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/ Dubai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28416" y="15910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Assets Regulatory Authority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187452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chain for VA transfers, custody compliance, CISO attestation support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17336" y="1078992"/>
            <a:ext cx="2724912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6117336" y="1078992"/>
            <a:ext cx="2724912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6227064" y="1188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90104" y="1243584"/>
            <a:ext cx="1024128" cy="228600"/>
          </a:xfrm>
          <a:prstGeom prst="roundRect">
            <a:avLst>
              <a:gd name="adj" fmla="val 28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690104" y="124358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27064" y="15910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Operational Resilience Act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7452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operational records, incident classification, third-party risk token tracking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798064"/>
            <a:ext cx="2724912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320040" y="2798064"/>
            <a:ext cx="2724912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429768" y="2907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Act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892808" y="2962656"/>
            <a:ext cx="1024128" cy="228600"/>
          </a:xfrm>
          <a:prstGeom prst="roundRect">
            <a:avLst>
              <a:gd name="adj" fmla="val 28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1892808" y="29626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29768" y="33101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Stablecoin Legislation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" y="3593592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stablecoin policy binding, FinCEN-compliant authorization chain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18688" y="2798064"/>
            <a:ext cx="2724912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3218688" y="2798064"/>
            <a:ext cx="2724912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3328416" y="2907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Travel Rule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791456" y="2962656"/>
            <a:ext cx="1024128" cy="228600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0" name="Text 38"/>
          <p:cNvSpPr/>
          <p:nvPr/>
        </p:nvSpPr>
        <p:spPr>
          <a:xfrm>
            <a:off x="4791456" y="29626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28416" y="33101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Action Task Force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28416" y="3593592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Originator/beneficiary data embedded in token, cross-border compliance signaling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17336" y="2798064"/>
            <a:ext cx="2724912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4" name="Shape 42"/>
          <p:cNvSpPr/>
          <p:nvPr/>
        </p:nvSpPr>
        <p:spPr>
          <a:xfrm>
            <a:off x="6117336" y="2798064"/>
            <a:ext cx="2724912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5" name="Text 43"/>
          <p:cNvSpPr/>
          <p:nvPr/>
        </p:nvSpPr>
        <p:spPr>
          <a:xfrm>
            <a:off x="6227064" y="2907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690104" y="2962656"/>
            <a:ext cx="1024128" cy="228600"/>
          </a:xfrm>
          <a:prstGeom prst="roundRect">
            <a:avLst>
              <a:gd name="adj" fmla="val 2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7" name="Text 45"/>
          <p:cNvSpPr/>
          <p:nvPr/>
        </p:nvSpPr>
        <p:spPr>
          <a:xfrm>
            <a:off x="7690104" y="29626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Standard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27064" y="33101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Management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27064" y="3593592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controls, access control evidence, security-by-design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Article 14 — Built 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of autonomous AI — cryptographically enforced, not policy-stated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47472" y="1097280"/>
            <a:ext cx="64008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7333488" y="1353312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333488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14(1) Satisfied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0352" y="1188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Traceability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5727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humanAnchor provides cryptographic proof that a verified human authorized the root transaction. Immutable across every delegation hop. Article 14 requires this. SPT-Txn delivers it.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148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359152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347472" y="2359152"/>
            <a:ext cx="64008" cy="107899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7333488" y="2615184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333488" y="26151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14(2) Satisfied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" y="2450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AI Authorization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2834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Acquisition Tokens (CATs) cryptographically limit what any AI agent can do. Scope monotonicity is enforced by math — no agent can exceed its delegated capability. Ever.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3410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3621024"/>
            <a:ext cx="8449056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347472" y="3621024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7333488" y="387705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7333488" y="38770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14(4) Satisfied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371246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&amp; Revocation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40965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revocation registry enables immediate termination of any agent’s authorization with cryptographic proof of revocation timestamp. The kill switch Article 14 mandates.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61772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Article 14 alignment  ·  GDPR Article 25 Data Protection by Design  ·  Hedera HCS tamper-evident audit trail  ·  No PII in audit chain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Standards-Track Matters to You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vs. open protocol — it's a procurement decision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Framework  |  Enterprise Edition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8449056" cy="685800"/>
          </a:xfrm>
          <a:prstGeom prst="rect">
            <a:avLst/>
          </a:prstGeom>
          <a:solidFill>
            <a:srgbClr val="0D2137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47472" y="1078992"/>
            <a:ext cx="64008" cy="6858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30352" y="1133856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SPT-Txn is being developed through the IETF — the same body that standardized HTTPS, OAuth, and JWT. Your institution's procurement team should consider: are we buying a proprietary black box, or implementing the emerging open standard?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993392"/>
            <a:ext cx="8449056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347472" y="1993392"/>
            <a:ext cx="64008" cy="6583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502920" y="21488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066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means multiple implementation options. You are not dependent on a single vendor's product roadmap or pricing decisions.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743200"/>
            <a:ext cx="8449056" cy="658368"/>
          </a:xfrm>
          <a:prstGeom prst="rect">
            <a:avLst/>
          </a:prstGeom>
          <a:solidFill>
            <a:srgbClr val="EAF6F8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347472" y="2743200"/>
            <a:ext cx="64008" cy="6583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02920" y="28986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Acceptance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90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standards are recognized by global regulators. An IETF-standardized compliance protocol carries significantly more regulatory weight than a proprietary solution.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493008"/>
            <a:ext cx="8449056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347472" y="3493008"/>
            <a:ext cx="64008" cy="6583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02920" y="36484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Architecture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840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evolve through community consensus. Your implementation roadmap aligns with the industry, not one vendor's feature timeline.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242816"/>
            <a:ext cx="8449056" cy="658368"/>
          </a:xfrm>
          <a:prstGeom prst="rect">
            <a:avLst/>
          </a:prstGeom>
          <a:solidFill>
            <a:srgbClr val="EAF6F8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347472" y="4242816"/>
            <a:ext cx="64008" cy="6583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02920" y="43982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Available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590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Sky Security SEZC provides the certified reference implementation — giving you a supported, production-ready starting point with the protocol authors.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2450592"/>
            <a:ext cx="9144000" cy="6400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deployment can be scoped in 30 days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627632"/>
            <a:ext cx="4160520" cy="1170432"/>
          </a:xfrm>
          <a:prstGeom prst="rect">
            <a:avLst/>
          </a:prstGeom>
          <a:solidFill>
            <a:srgbClr val="0D2D45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347472" y="1627632"/>
            <a:ext cx="64008" cy="117043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484632" y="1737360"/>
            <a:ext cx="438912" cy="438912"/>
          </a:xfrm>
          <a:prstGeom prst="ellipse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1719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Discovery Call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33272" y="20391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session with your CISO/CTO to map current transaction authorization architecture and identify highest-value integration points.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27632"/>
            <a:ext cx="4160520" cy="1170432"/>
          </a:xfrm>
          <a:prstGeom prst="rect">
            <a:avLst/>
          </a:prstGeom>
          <a:solidFill>
            <a:srgbClr val="0D2D45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4754880" y="1627632"/>
            <a:ext cx="64008" cy="117043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4892040" y="1737360"/>
            <a:ext cx="438912" cy="438912"/>
          </a:xfrm>
          <a:prstGeom prst="ellipse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1719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 Definition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40680" y="20391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single transaction flow (e.g. RWA transfers or AI agent trades) as the pilot. Deliverable: SPT-Txn token issuance + verification for that flow.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926080"/>
            <a:ext cx="4160520" cy="1170432"/>
          </a:xfrm>
          <a:prstGeom prst="rect">
            <a:avLst/>
          </a:prstGeom>
          <a:solidFill>
            <a:srgbClr val="0D2D45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347472" y="2926080"/>
            <a:ext cx="64008" cy="117043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484632" y="3035808"/>
            <a:ext cx="438912" cy="438912"/>
          </a:xfrm>
          <a:prstGeom prst="ellipse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484632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3272" y="30175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33272" y="33375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PoC with your engineering team. Output: working integration, compliance evidence sample for your regulatory team to review.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160520" cy="1170432"/>
          </a:xfrm>
          <a:prstGeom prst="rect">
            <a:avLst/>
          </a:prstGeom>
          <a:solidFill>
            <a:srgbClr val="0D2D45"/>
          </a:solidFill>
          <a:ln/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64008" cy="117043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4892040" y="3035808"/>
            <a:ext cx="438912" cy="438912"/>
          </a:xfrm>
          <a:prstGeom prst="ellipse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4892040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0175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0680" y="33375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rollout across transaction types with pricing, SLA, and IETF conformance certification pathway.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Rudi Coetzee  ·  rudi@violetskysecurity.com  ·  Violet Sky Security SEZC  ·  Cayman Islands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68</TotalTime>
  <Words>1208</Words>
  <Application>Microsoft Macintosh PowerPoint</Application>
  <PresentationFormat>On-screen Show (16:9)</PresentationFormat>
  <Paragraphs>160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SPT-Txn — Enterprise Briefing</dc:title>
  <dc:subject>PptxGenJS Presentation</dc:subject>
  <dc:creator>PptxGenJS</dc:creator>
  <cp:lastModifiedBy>Rudi Coetzee</cp:lastModifiedBy>
  <cp:revision>6</cp:revision>
  <dcterms:created xsi:type="dcterms:W3CDTF">2026-03-08T17:42:48Z</dcterms:created>
  <dcterms:modified xsi:type="dcterms:W3CDTF">2026-03-15T18:25:25Z</dcterms:modified>
</cp:coreProperties>
</file>